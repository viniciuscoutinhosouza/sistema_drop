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42332"/>
            <a:ext cx="2926080" cy="20116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206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SUPER SELLER · PARTE 2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de crescimento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lucratividade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 </a:t>
            </a:r>
            <a:pPr indent="0" marL="0">
              <a:buNone/>
            </a:pPr>
            <a:r>
              <a:rPr lang="en-US" sz="1700" b="1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dias</a:t>
            </a:r>
            <a:pPr indent="0" marL="0">
              <a:buNone/>
            </a:pPr>
            <a:r>
              <a:rPr lang="en-US" sz="17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Mercado Livre — o sistema operacional pra escalar sem queimar margem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91440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886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Descobrir, defender, otimizar, antecipar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Cadências diária, semanal, mensal e trimestral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3 prompts pra usar com Claude in Chrome no 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46405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quem já está verde sustentado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4688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ZERO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não é faturamento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lucro líquido. O resto é vaidade que disfarça operação quebrada.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023360" cy="2743200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VAIDADE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R$ 100 mil/mês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36576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83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como sucesso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se a margem é negativa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puro Ads queimando capital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4023360" cy="2743200"/>
          </a:xfrm>
          <a:prstGeom prst="rect">
            <a:avLst/>
          </a:prstGeom>
          <a:solidFill>
            <a:srgbClr val="FFF8B8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REAL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líquido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27706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 mil/mês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29200" y="3246120"/>
            <a:ext cx="36576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383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desconta comissão, frete, Ads, impostos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número que paga sua conta no fim do mês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 só com produto e operação fortes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exemplos são da mesma loja em meses diferentes — só mudou a disciplina de margem.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4688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PILARES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madura roda em 4 frentes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pilar tem sua cadência e seu jogo. Falta um, a operação manca.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3192" y="1691640"/>
            <a:ext cx="1965960" cy="28346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691640"/>
            <a:ext cx="196596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964692" y="2057400"/>
            <a:ext cx="822960" cy="822960"/>
          </a:xfrm>
          <a:prstGeom prst="ellipse">
            <a:avLst/>
          </a:prstGeom>
          <a:solidFill>
            <a:srgbClr val="FDF1D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" y="2221992"/>
            <a:ext cx="493776" cy="493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3192" y="3017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" y="33192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93292" y="3776472"/>
            <a:ext cx="36576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" y="3886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produtos novos com dados, não com palpite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523744" y="1691640"/>
            <a:ext cx="1965960" cy="28346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23744" y="1691640"/>
            <a:ext cx="1965960" cy="91440"/>
          </a:xfrm>
          <a:prstGeom prst="rect">
            <a:avLst/>
          </a:prstGeom>
          <a:solidFill>
            <a:srgbClr val="2C7A5E"/>
          </a:solidFill>
          <a:ln/>
        </p:spPr>
      </p:sp>
      <p:sp>
        <p:nvSpPr>
          <p:cNvPr id="16" name="Shape 13"/>
          <p:cNvSpPr/>
          <p:nvPr/>
        </p:nvSpPr>
        <p:spPr>
          <a:xfrm>
            <a:off x="3095244" y="2057400"/>
            <a:ext cx="822960" cy="822960"/>
          </a:xfrm>
          <a:prstGeom prst="ellipse">
            <a:avLst/>
          </a:prstGeom>
          <a:solidFill>
            <a:srgbClr val="E3F1E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836" y="2221992"/>
            <a:ext cx="493776" cy="4937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23744" y="3017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615184" y="33192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3323844" y="3776472"/>
            <a:ext cx="365760" cy="27432"/>
          </a:xfrm>
          <a:prstGeom prst="rect">
            <a:avLst/>
          </a:prstGeom>
          <a:solidFill>
            <a:srgbClr val="2C7A5E"/>
          </a:solidFill>
          <a:ln/>
        </p:spPr>
      </p:sp>
      <p:sp>
        <p:nvSpPr>
          <p:cNvPr id="21" name="Text 17"/>
          <p:cNvSpPr/>
          <p:nvPr/>
        </p:nvSpPr>
        <p:spPr>
          <a:xfrm>
            <a:off x="2660904" y="3886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produtos ativos antes que caiam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54296" y="1691640"/>
            <a:ext cx="1965960" cy="28346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54296" y="1691640"/>
            <a:ext cx="196596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Shape 20"/>
          <p:cNvSpPr/>
          <p:nvPr/>
        </p:nvSpPr>
        <p:spPr>
          <a:xfrm>
            <a:off x="5225796" y="2057400"/>
            <a:ext cx="822960" cy="822960"/>
          </a:xfrm>
          <a:prstGeom prst="ellipse">
            <a:avLst/>
          </a:prstGeom>
          <a:solidFill>
            <a:srgbClr val="DEE7F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388" y="2221992"/>
            <a:ext cx="493776" cy="4937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54296" y="3017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745736" y="33192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5454396" y="3776472"/>
            <a:ext cx="36576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4"/>
          <p:cNvSpPr/>
          <p:nvPr/>
        </p:nvSpPr>
        <p:spPr>
          <a:xfrm>
            <a:off x="4791456" y="3886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margem, anúncios, reputação periodicamente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784848" y="1691640"/>
            <a:ext cx="1965960" cy="28346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784848" y="1691640"/>
            <a:ext cx="196596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Shape 27"/>
          <p:cNvSpPr/>
          <p:nvPr/>
        </p:nvSpPr>
        <p:spPr>
          <a:xfrm>
            <a:off x="7356348" y="2057400"/>
            <a:ext cx="822960" cy="822960"/>
          </a:xfrm>
          <a:prstGeom prst="ellipse">
            <a:avLst/>
          </a:prstGeom>
          <a:solidFill>
            <a:srgbClr val="EDE3FD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2221992"/>
            <a:ext cx="493776" cy="49377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784848" y="3017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876288" y="33192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Antecipação</a:t>
            </a:r>
            <a:endParaRPr lang="en-US" sz="1800" dirty="0"/>
          </a:p>
        </p:txBody>
      </p:sp>
      <p:sp>
        <p:nvSpPr>
          <p:cNvPr id="36" name="Shape 30"/>
          <p:cNvSpPr/>
          <p:nvPr/>
        </p:nvSpPr>
        <p:spPr>
          <a:xfrm>
            <a:off x="7584948" y="3776472"/>
            <a:ext cx="36576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1"/>
          <p:cNvSpPr/>
          <p:nvPr/>
        </p:nvSpPr>
        <p:spPr>
          <a:xfrm>
            <a:off x="6922008" y="3886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comerciais, Ads, promoções com 60 dias de avanço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bloco a seguir entra em detalhe na rotina e nas ferramentas.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4688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DA OPERAÇÃO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cadências, sem improviso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trava o presente. Trimestral redesenha o futuro.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3192" y="1691640"/>
            <a:ext cx="1965960" cy="28346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691640"/>
            <a:ext cx="1965960" cy="7772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5623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18105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33272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7784" y="2606040"/>
            <a:ext cx="1673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Pedidos, etiquetas, expedição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em &lt; 2h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reputação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 de estoque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de Ads do dia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23744" y="1691640"/>
            <a:ext cx="1965960" cy="28346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23744" y="1691640"/>
            <a:ext cx="1965960" cy="7772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4" y="185623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63824" y="18105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163824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2–4h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688336" y="2606040"/>
            <a:ext cx="1673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reputação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dos top SKUs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vs vendas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lances de Ads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promoções abertas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54296" y="1691640"/>
            <a:ext cx="1965960" cy="28346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54296" y="1691640"/>
            <a:ext cx="1965960" cy="7772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185623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94376" y="18105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294376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Meio-dia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818888" y="2606040"/>
            <a:ext cx="1673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financeira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real por SKU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dos top 20 anúncios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tendências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do mês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784848" y="1691640"/>
            <a:ext cx="1965960" cy="28346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84848" y="1691640"/>
            <a:ext cx="1965960" cy="7772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1856232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24928" y="18105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424928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949440" y="2606040"/>
            <a:ext cx="1673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ABC completa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SKUs C de prejuízo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B → 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Prospecção de novos SKUs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fornecedores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~10–14h/semana de operação consistente. Quem não tem essas horas, ainda não tem operação madura.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737360" cy="292608"/>
          </a:xfrm>
          <a:prstGeom prst="rect">
            <a:avLst/>
          </a:prstGeom>
          <a:solidFill>
            <a:srgbClr val="FDF1D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DESCOBERTA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achar o próximo produto vencedor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9144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solidFill>
            <a:srgbClr val="FDF1D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Achismo descobre 1 produto vencedor a cada 10 tentativas. Dado descobre 1 a cada 3.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5420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diferença não é talento — é processo de pesquisa.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critérios de produto vencedor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pesquisar — fontes oficiais gratuitas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pesquisar — ferramentas pagas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concorrência em 5 passos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51560" cy="292608"/>
          </a:xfrm>
          <a:prstGeom prst="rect">
            <a:avLst/>
          </a:prstGeom>
          <a:solidFill>
            <a:srgbClr val="FDF1D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critérios de produto vencedor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Faltando 1 critério, dor de cabeça. Faltando 2, evite.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6916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comprovada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da categoria vendem 100+ unidades/mês. Busca crescente ou estável.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 administrável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80160" y="25603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saturada por gigantes. Possível disputar buy box ou abrir subnicho.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8803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viável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80160" y="31546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comissão, frete subsidiado, Ads e impostos: ≥ 15–20% líquidos.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4747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simples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80160" y="37490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Leve, pequeno, durável. Cabe em embalagem padrão. Baixa avaria.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40690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Reposição garantida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80160" y="43434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 com estoque, prazo previsível, preço estável. Plano B existe.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Sobrar &gt; 25% de margem em produto não-óbvio? Investigue por que ninguém aproveitou — pode ter pegadinha.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51560" cy="292608"/>
          </a:xfrm>
          <a:prstGeom prst="rect">
            <a:avLst/>
          </a:prstGeom>
          <a:solidFill>
            <a:srgbClr val="FDF1D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pesquisar — fontes oficiais gratuitas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vendedor até R$ 10k/mês de faturamento, isso resolve 80% dos casos.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02336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Livre Tendências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mercadolivre.com.br/tendencias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em alta na semana, buscas mais frequentes por categoria.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402336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645920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Vendidos do 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filtro "Mais vendidos" na busca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giro real, não só busca. Prioritário pra decisão.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724912"/>
            <a:ext cx="402336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24912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Ads — Insights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090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painel de Mercado Ads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3319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 mais buscadas e CPC médio, mesmo sem campanha ativa.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724912"/>
            <a:ext cx="402336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724912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090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trends.google.com.br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3319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ao longo do tempo. Detecta sazonalidade e tendência crescente.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803904"/>
            <a:ext cx="402336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803904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895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Shopping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41696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google.com/shopping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43982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de preços de mercado, vendedores ativos, promoções.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2–3 fontes triangula o sinal. Uma fonte só dá viés.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51560" cy="292608"/>
          </a:xfrm>
          <a:prstGeom prst="rect">
            <a:avLst/>
          </a:prstGeom>
          <a:solidFill>
            <a:srgbClr val="FDF1D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pesquisar — ferramentas pagas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se economiza &gt; 5h/semana de análise ou descobre 1 vencedor por mês.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21280" cy="1078992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39112"/>
            <a:ext cx="225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Nubimetrics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demanda, oferta e palavras-chave por categoria.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1360" y="1691640"/>
            <a:ext cx="2621280" cy="1078992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4240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44240" y="2039112"/>
            <a:ext cx="225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Hub / Spy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4240" y="233172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de vencedores e monitoramento de concorrentes (Full/Flex).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65520" y="1691640"/>
            <a:ext cx="2621280" cy="1078992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8400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48400" y="2039112"/>
            <a:ext cx="225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Joom Pulse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48400" y="233172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de Chrome — análise direta na página do ML.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935224"/>
            <a:ext cx="2621280" cy="1078992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44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282696"/>
            <a:ext cx="225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Trends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575304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mercado em tempo real.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61360" y="2935224"/>
            <a:ext cx="2621280" cy="1078992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4240" y="3044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44240" y="3282696"/>
            <a:ext cx="225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 Sheet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44240" y="3575304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dados do ML em planilha do Google Sheets pra auditoria.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65520" y="2935224"/>
            <a:ext cx="2621280" cy="1078992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8400" y="3044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48400" y="3282696"/>
            <a:ext cx="225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GoSmarter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48400" y="3575304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com calculadora de margem real por SKU.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FDF1DC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251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é referencial — teste o trial antes de assinar. Nenhuma ferramenta substitui execução.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49789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Mencionadas como opções neutras — escolha a que se encaixa no seu fluxo. Não há "melhor" universal.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51560" cy="292608"/>
          </a:xfrm>
          <a:prstGeom prst="rect">
            <a:avLst/>
          </a:prstGeom>
          <a:solidFill>
            <a:srgbClr val="FDF1D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concorrência em 5 passos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adicionar SKU ao mix, rode esse fluxo. ~30 minutos por produto.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74904" y="2423160"/>
            <a:ext cx="1627632" cy="178308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51460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principal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017520"/>
            <a:ext cx="27432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" y="31089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como o cliente buscaria. Anotar os 10 primeiros.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737360"/>
            <a:ext cx="548640" cy="548640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066544" y="2423160"/>
            <a:ext cx="1627632" cy="178308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76272" y="251460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dos top 10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3017520"/>
            <a:ext cx="27432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2203704" y="31089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Vendedor, MercadoLíder, preço, tipo, frete, Full/Flex, vendidos, avaliações.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1737360"/>
            <a:ext cx="548640" cy="548640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758184" y="2423160"/>
            <a:ext cx="1627632" cy="178308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67912" y="251460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o padrão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3017520"/>
            <a:ext cx="27432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3895344" y="31089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são MercadoLíder Platinum? Barreira alta. 3–4 revendedores? Dá pra brigar.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1737360"/>
            <a:ext cx="548640" cy="548640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449824" y="2423160"/>
            <a:ext cx="1627632" cy="178308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251460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Encontre o gap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7432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5586984" y="31089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ninguém faz bem? Reclamação que repete em 3+ avaliações?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80960" y="1737360"/>
            <a:ext cx="548640" cy="548640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7141464" y="2423160"/>
            <a:ext cx="1627632" cy="178308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51192" y="251460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818120" y="3017520"/>
            <a:ext cx="27432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7278624" y="31089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diferencial claro (preço, prazo, kit, qualidade)? Entra. Senão, busque outro.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Reclamação "veio com defeito" se repete em 3+ avaliações? Defeito de fábrica generalizado — fuja, não importa a margem.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3291840" cy="32004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10312" cy="210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65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01 · CLAUDE IN CHROME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tendência da minha categoria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isso na página de qualquer categoria do Mercado Livre pra ter um raio-X em segundos.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FFF8B8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QUANDO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navegando uma página de categoria do ML e quer entender o terreno antes de entrar nele.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8229600" cy="24688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2194560"/>
            <a:ext cx="82296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" y="2286000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0"/>
          <p:cNvSpPr/>
          <p:nvPr/>
        </p:nvSpPr>
        <p:spPr>
          <a:xfrm>
            <a:off x="795528" y="228600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1"/>
          <p:cNvSpPr/>
          <p:nvPr/>
        </p:nvSpPr>
        <p:spPr>
          <a:xfrm>
            <a:off x="996696" y="2286000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2194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prompt.txt — pronto pra copiar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5800" y="2606040"/>
            <a:ext cx="7772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Estou na página de uma categoria do Mercado Livre. Analise os 20 primeiros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 visíveis e me diga: (1) faixa de preço dominante, (2) quantos têm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vs Flex vs ME normal, (3) quantos são MercadoLíder/Loja Oficial,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 padrões de título mais usados (palavras-chave que se repetem),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(5) que produtos parecem ter alto giro (vendas indicadas) e quais parecem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estagnados, (6) gaps de oportunidade (algo que ninguém está fazendo bem).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Seja objetivo, formato em tabela quando possível.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3291840" cy="32004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10312" cy="210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65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02 · CLAUDE IN CHROME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concorrente específico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 página de loja de um vendedor que você quer estudar — extrai diferenciais e gaps.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FFF8B8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QUANDO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na página de loja de um concorrente direto e quer ver o que ele faz bem (e mal).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8229600" cy="24688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2194560"/>
            <a:ext cx="82296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" y="2286000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0"/>
          <p:cNvSpPr/>
          <p:nvPr/>
        </p:nvSpPr>
        <p:spPr>
          <a:xfrm>
            <a:off x="795528" y="228600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1"/>
          <p:cNvSpPr/>
          <p:nvPr/>
        </p:nvSpPr>
        <p:spPr>
          <a:xfrm>
            <a:off x="996696" y="2286000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2194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prompt.txt — pronto pra copiar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5800" y="2606040"/>
            <a:ext cx="7772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Estou na página de loja de um vendedor concorrente no Mercado Livre.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Analise: (1) total de anúncios ativos, (2) categorias principais,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 produtos mais vendidos visíveis, (4) reputação e nível MercadoLíder,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(5) tempo médio de resposta, (6) padrões de fotos e títulos (qualidade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visual), (7) faixas de preço, (8) usa frete grátis amplo? (9) usa Full?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 que diferenciais ele oferece que eu poderia replicar ou superar.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Termine com 3 ideias acionáveis pra mim.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3291840" cy="32004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210312" cy="210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65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03 · CLAUDE IN CHROME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produto específico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 página de qualquer anúncio (seu ou da concorrência) pra auditar como se fosse o ML olhando.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FFF8B8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QUANDO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quer auditar um anúncio específico — o seu pra refazer, ou o do concorrente pra entender o jogo.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8229600" cy="24688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2194560"/>
            <a:ext cx="82296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" y="2286000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0"/>
          <p:cNvSpPr/>
          <p:nvPr/>
        </p:nvSpPr>
        <p:spPr>
          <a:xfrm>
            <a:off x="795528" y="228600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1"/>
          <p:cNvSpPr/>
          <p:nvPr/>
        </p:nvSpPr>
        <p:spPr>
          <a:xfrm>
            <a:off x="996696" y="2286000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2194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prompt.txt — pronto pra copiar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5800" y="2606040"/>
            <a:ext cx="7772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Estou na página de um anúncio do Mercado Livre. Avalie como se fosse um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 de SEO interno do ML: (1) qualidade do título (tem palavra-chave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forte? tamanho adequado? estrutura Produto+Marca+Modelo?), (2) quantidade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qualidade das fotos, (3) ficha técnica (preenchida ou com lacunas?),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 descrição (informativa ou genérica?), (5) preço vs concorrentes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visíveis em "Quem viu também viu", (6) quantidade de perguntas + qualidade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 respostas do vendedor, (7) avaliações e pontos fracos recorrentes nas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reviews. Termine com nota geral de 0-10 e 3 melhorias prioritárias se eu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fosse refazer esse anúncio.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C7A5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292608"/>
          </a:xfrm>
          <a:prstGeom prst="rect">
            <a:avLst/>
          </a:prstGeom>
          <a:solidFill>
            <a:srgbClr val="E3F1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DEFESA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a procura está crescendo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esses 4 sinais aparecem juntos, é hora de PROTEGER e EXPANDIR — não de cortar.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023360" cy="132588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73152" cy="1325880"/>
          </a:xfrm>
          <a:prstGeom prst="rect">
            <a:avLst/>
          </a:prstGeom>
          <a:solidFill>
            <a:srgbClr val="2C7A5E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810512"/>
            <a:ext cx="457200" cy="457200"/>
          </a:xfrm>
          <a:prstGeom prst="ellipse">
            <a:avLst/>
          </a:prstGeom>
          <a:solidFill>
            <a:srgbClr val="E3F1E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9280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7830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subindo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34440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semana sobre semana ↑ no painel — algoritmo está te empurrando.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5800" y="2514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2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 </a:t>
            </a:r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Reforce estoque. Suba lance de Ads moderadamente.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1645920"/>
            <a:ext cx="4023360" cy="132588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1645920"/>
            <a:ext cx="73152" cy="1325880"/>
          </a:xfrm>
          <a:prstGeom prst="rect">
            <a:avLst/>
          </a:prstGeom>
          <a:solidFill>
            <a:srgbClr val="2C7A5E"/>
          </a:solidFill>
          <a:ln/>
        </p:spPr>
      </p:sp>
      <p:sp>
        <p:nvSpPr>
          <p:cNvPr id="16" name="Shape 13"/>
          <p:cNvSpPr/>
          <p:nvPr/>
        </p:nvSpPr>
        <p:spPr>
          <a:xfrm>
            <a:off x="4892040" y="1810512"/>
            <a:ext cx="457200" cy="457200"/>
          </a:xfrm>
          <a:prstGeom prst="ellipse">
            <a:avLst/>
          </a:prstGeom>
          <a:solidFill>
            <a:srgbClr val="E3F1E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89280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40680" y="17830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estável ou ↑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440680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mais visitas, % de quem compra se mantém ou melhora.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892040" y="2514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2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 </a:t>
            </a:r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 está performando. Não mexer no que funciona.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7200" y="3090672"/>
            <a:ext cx="4023360" cy="132588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57200" y="3090672"/>
            <a:ext cx="73152" cy="1325880"/>
          </a:xfrm>
          <a:prstGeom prst="rect">
            <a:avLst/>
          </a:prstGeom>
          <a:solidFill>
            <a:srgbClr val="2C7A5E"/>
          </a:solidFill>
          <a:ln/>
        </p:spPr>
      </p:sp>
      <p:sp>
        <p:nvSpPr>
          <p:cNvPr id="23" name="Shape 19"/>
          <p:cNvSpPr/>
          <p:nvPr/>
        </p:nvSpPr>
        <p:spPr>
          <a:xfrm>
            <a:off x="685800" y="3255264"/>
            <a:ext cx="457200" cy="457200"/>
          </a:xfrm>
          <a:prstGeom prst="ellipse">
            <a:avLst/>
          </a:prstGeom>
          <a:solidFill>
            <a:srgbClr val="E3F1E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337560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34440" y="32278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na busca melhorando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234440" y="35021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da página 2, entra na 1. Dos top 10 pros top 5.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85800" y="39593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2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 </a:t>
            </a:r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consistência. Cuidado com mudanças bruscas.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663440" y="3090672"/>
            <a:ext cx="4023360" cy="132588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663440" y="3090672"/>
            <a:ext cx="73152" cy="1325880"/>
          </a:xfrm>
          <a:prstGeom prst="rect">
            <a:avLst/>
          </a:prstGeom>
          <a:solidFill>
            <a:srgbClr val="2C7A5E"/>
          </a:solidFill>
          <a:ln/>
        </p:spPr>
      </p:sp>
      <p:sp>
        <p:nvSpPr>
          <p:cNvPr id="30" name="Shape 25"/>
          <p:cNvSpPr/>
          <p:nvPr/>
        </p:nvSpPr>
        <p:spPr>
          <a:xfrm>
            <a:off x="4892040" y="3255264"/>
            <a:ext cx="457200" cy="457200"/>
          </a:xfrm>
          <a:prstGeom prst="ellipse">
            <a:avLst/>
          </a:prstGeom>
          <a:solidFill>
            <a:srgbClr val="E3F1EA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337560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40680" y="32278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 novas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440680" y="35021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de busca aparecendo no relatório de Ads que você não tinha visto.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892040" y="39593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2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 </a:t>
            </a:r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no título/ficha técnica. Surfe a onda.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positivos não duram pra sempre — aproveite o boost orgânico antes que o concorrente perceba.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C7A5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777240" cy="292608"/>
          </a:xfrm>
          <a:prstGeom prst="rect">
            <a:avLst/>
          </a:prstGeom>
          <a:solidFill>
            <a:srgbClr val="E3F1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a procura está caindo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antes detectar, mais barato sair ou ajustar. Quem ignora, encalha estoque.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023360" cy="132588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73152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810512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9280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7830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decrescentes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34440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semanas seguidas com queda. Algoritmo te tirou do destaque.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5800" y="2514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 </a:t>
            </a:r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 título, foto, preço. Compare com top 5 atuais.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1645920"/>
            <a:ext cx="4023360" cy="132588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1645920"/>
            <a:ext cx="73152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Shape 13"/>
          <p:cNvSpPr/>
          <p:nvPr/>
        </p:nvSpPr>
        <p:spPr>
          <a:xfrm>
            <a:off x="4892040" y="1810512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89280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40680" y="17830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qualidade caindo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440680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 desatualizada, foto fora do padrão, atributos vazios.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892040" y="2514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 </a:t>
            </a:r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Corrija o que o painel apontar. Score volta em 24–48h.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7200" y="3090672"/>
            <a:ext cx="4023360" cy="132588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57200" y="3090672"/>
            <a:ext cx="73152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Shape 19"/>
          <p:cNvSpPr/>
          <p:nvPr/>
        </p:nvSpPr>
        <p:spPr>
          <a:xfrm>
            <a:off x="685800" y="3255264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337560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34440" y="32278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 novo agressivo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234440" y="35021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entrou com preço bem abaixo, Full ativo, fotos melhores.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85800" y="39593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 </a:t>
            </a:r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Diferencie (kit, prazo, atendimento) — não baixe preço cego.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663440" y="3090672"/>
            <a:ext cx="4023360" cy="132588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663440" y="3090672"/>
            <a:ext cx="73152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Shape 25"/>
          <p:cNvSpPr/>
          <p:nvPr/>
        </p:nvSpPr>
        <p:spPr>
          <a:xfrm>
            <a:off x="4892040" y="3255264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337560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40680" y="32278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 conhecida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440680" y="35021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em vale anual previsível (ex: ar-cond. em junho).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892040" y="39593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 </a:t>
            </a:r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Reduza estoque. Migre Ads pra produtos atemporais. Aceite o ciclo.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detectada em &lt; 14 dias custa 1/3 do que custaria detectar em 60 dias com estoque parado.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C7A5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777240" cy="292608"/>
          </a:xfrm>
          <a:prstGeom prst="rect">
            <a:avLst/>
          </a:prstGeom>
          <a:solidFill>
            <a:srgbClr val="E3F1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mensal de margem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dia útil do mês. 1h. Diferença entre seller amador e profissional.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23360" cy="329184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6479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7099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Houve reajuste de comissão em alguma categoria?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691640"/>
            <a:ext cx="4023360" cy="329184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76479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74920" y="17099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fornecedor mudou?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075688"/>
            <a:ext cx="4023360" cy="329184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884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20939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(se importado) variou &gt; 5%?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2075688"/>
            <a:ext cx="4023360" cy="329184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14884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74920" y="20939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frete subsidiado mudou?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2459736"/>
            <a:ext cx="4023360" cy="329184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32888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68680" y="24780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 SKU com margem &lt; 10%? (avaliar pausar/reajustar)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663440" y="2459736"/>
            <a:ext cx="4023360" cy="329184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532888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074920" y="24780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 SKU com margem &gt; 35%? (pode estar caro perdendo conversão)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57200" y="2843784"/>
            <a:ext cx="4023360" cy="329184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916936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68680" y="28620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(Ads, devolução) ainda fazem sentido?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4663440" y="2843784"/>
            <a:ext cx="4023360" cy="329184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916936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074920" y="28620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promoção subsidiada que vale a pena aceitar?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457200" y="3319272"/>
            <a:ext cx="8229600" cy="640080"/>
          </a:xfrm>
          <a:prstGeom prst="rect">
            <a:avLst/>
          </a:prstGeom>
          <a:solidFill>
            <a:srgbClr val="E3F1EA"/>
          </a:solidFill>
          <a:ln/>
        </p:spPr>
      </p:sp>
      <p:sp>
        <p:nvSpPr>
          <p:cNvPr id="32" name="Text 22"/>
          <p:cNvSpPr/>
          <p:nvPr/>
        </p:nvSpPr>
        <p:spPr>
          <a:xfrm>
            <a:off x="685800" y="331927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seller que descobre 3 meses depois que está vendendo no prejuízo. </a:t>
            </a:r>
            <a:pPr indent="0" marL="0">
              <a:buNone/>
            </a:pPr>
            <a:r>
              <a:rPr lang="en-US" sz="12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seja esse seller.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valores e tarifas atuais no Seller Center — ML reajusta periodicamente.</a:t>
            </a:r>
            <a:endParaRPr lang="en-US" sz="850" dirty="0"/>
          </a:p>
        </p:txBody>
      </p:sp>
      <p:sp>
        <p:nvSpPr>
          <p:cNvPr id="34" name="Text 24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C7A5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777240" cy="292608"/>
          </a:xfrm>
          <a:prstGeom prst="rect">
            <a:avLst/>
          </a:prstGeom>
          <a:solidFill>
            <a:srgbClr val="E3F1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ABC trimestral — onde colocar atenção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do lucro vem de 20% do mix. O resto consome tempo se você não classificar.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21280" cy="27432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2621280" cy="868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0136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417320" y="1892808"/>
            <a:ext cx="156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dos SKUs · 80% da receita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ATENÇÃO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90088"/>
            <a:ext cx="365760" cy="274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225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amplo, nunca ruptura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perfeitas, ficha 100%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ativos com Rentabilidade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Full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1360" y="1691640"/>
            <a:ext cx="2621280" cy="27432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1360" y="1691640"/>
            <a:ext cx="2621280" cy="86868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6" name="Text 14"/>
          <p:cNvSpPr/>
          <p:nvPr/>
        </p:nvSpPr>
        <p:spPr>
          <a:xfrm>
            <a:off x="3444240" y="180136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221480" y="1892808"/>
            <a:ext cx="156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dos SKUs · 15% da receita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44240" y="2697480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 PRA SUBIR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44240" y="2990088"/>
            <a:ext cx="365760" cy="27432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0" name="Text 18"/>
          <p:cNvSpPr/>
          <p:nvPr/>
        </p:nvSpPr>
        <p:spPr>
          <a:xfrm>
            <a:off x="3444240" y="3108960"/>
            <a:ext cx="225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regular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em foto/título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Ads em Crescimento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trimestre seguinte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65520" y="1691640"/>
            <a:ext cx="2621280" cy="27432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65520" y="1691640"/>
            <a:ext cx="2621280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6248400" y="180136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7025640" y="1892808"/>
            <a:ext cx="156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dos SKUs · 5% da receita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48400" y="2697480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SE DÁ PREJUÍZO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48400" y="2990088"/>
            <a:ext cx="365760" cy="274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6248400" y="3108960"/>
            <a:ext cx="225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atenção operacional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investir em Ads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Liquidar se virar Unhealthy Stock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por novos SKUs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Reavalie a curva ABC a cada trimestre. Promova B → A. Não tenha pena de matar C.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737360" cy="292608"/>
          </a:xfrm>
          <a:prstGeom prst="rect">
            <a:avLst/>
          </a:prstGeom>
          <a:solidFill>
            <a:srgbClr val="DEE7F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OTIMIZAÇÃO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semanal — 2 a 4 horas, 1 dia da semana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Bloqueie um horário fixo (ex: terça à tarde). Sem isso, vira "quando der" — e nunca dá.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965960" cy="123444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783080"/>
            <a:ext cx="411480" cy="411480"/>
          </a:xfrm>
          <a:prstGeom prst="ellipse">
            <a:avLst/>
          </a:prstGeom>
          <a:solidFill>
            <a:srgbClr val="DEE7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856232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7647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reputação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6072" y="2240280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indicadores. Tendência de melhora ou piora?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42032" y="1645920"/>
            <a:ext cx="1965960" cy="123444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79192" y="1783080"/>
            <a:ext cx="411480" cy="411480"/>
          </a:xfrm>
          <a:prstGeom prst="ellipse">
            <a:avLst/>
          </a:prstGeom>
          <a:solidFill>
            <a:srgbClr val="DEE7F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44" y="185623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82112" y="17647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qualidade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660904" y="2240280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abaixo de 80. Ajustar o que o painel apontar.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26864" y="1645920"/>
            <a:ext cx="1965960" cy="123444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64024" y="1783080"/>
            <a:ext cx="411480" cy="411480"/>
          </a:xfrm>
          <a:prstGeom prst="ellipse">
            <a:avLst/>
          </a:prstGeom>
          <a:solidFill>
            <a:srgbClr val="DEE7F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1856232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66944" y="17647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vs vendas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745736" y="2240280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e conversão. Muita visita e pouca venda = problema de preço/foto.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11696" y="1645920"/>
            <a:ext cx="1965960" cy="123444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48856" y="1783080"/>
            <a:ext cx="411480" cy="411480"/>
          </a:xfrm>
          <a:prstGeom prst="ellipse">
            <a:avLst/>
          </a:prstGeom>
          <a:solidFill>
            <a:srgbClr val="DEE7F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856232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51776" y="17647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novas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830568" y="2240280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Agradecer positivas, responder negativas com profissionalismo.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57200" y="3017520"/>
            <a:ext cx="1965960" cy="123444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rgbClr val="DEE7F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227832"/>
            <a:ext cx="265176" cy="26517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97280" y="3136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Promoções disponíveis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76072" y="3611880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Convite de oferta relâmpago, do dia ou subsidiada? Vale aderir?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2542032" y="3017520"/>
            <a:ext cx="1965960" cy="123444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2679192" y="3154680"/>
            <a:ext cx="411480" cy="411480"/>
          </a:xfrm>
          <a:prstGeom prst="ellipse">
            <a:avLst/>
          </a:prstGeom>
          <a:solidFill>
            <a:srgbClr val="DEE7FB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2344" y="3227832"/>
            <a:ext cx="265176" cy="26517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182112" y="3136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concorrência top SKUs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2660904" y="3611880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entrou agressivo? Saiu? Preço médio mudou?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4626864" y="3017520"/>
            <a:ext cx="1965960" cy="123444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764024" y="3154680"/>
            <a:ext cx="411480" cy="411480"/>
          </a:xfrm>
          <a:prstGeom prst="ellipse">
            <a:avLst/>
          </a:prstGeom>
          <a:solidFill>
            <a:srgbClr val="DEE7FB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7176" y="3227832"/>
            <a:ext cx="265176" cy="26517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266944" y="3136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Ads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4745736" y="3611880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campanhas com ACOS alto. Escalar campanhas com ACOS bom.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6711696" y="3017520"/>
            <a:ext cx="1965960" cy="123444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848856" y="3154680"/>
            <a:ext cx="411480" cy="411480"/>
          </a:xfrm>
          <a:prstGeom prst="ellipse">
            <a:avLst/>
          </a:prstGeom>
          <a:solidFill>
            <a:srgbClr val="DEE7FB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3227832"/>
            <a:ext cx="265176" cy="26517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351776" y="3136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Reposição de estoque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6830568" y="3611880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compra dos itens com giro alto da semana.</a:t>
            </a:r>
            <a:endParaRPr lang="en-US" sz="950" dirty="0"/>
          </a:p>
        </p:txBody>
      </p:sp>
      <p:sp>
        <p:nvSpPr>
          <p:cNvPr id="47" name="Text 37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maduro tem ritual fixo: mesma hora, mesmo dia, mesma checklist. Sem ritual, oscila.</a:t>
            </a:r>
            <a:endParaRPr lang="en-US" sz="850" dirty="0"/>
          </a:p>
        </p:txBody>
      </p:sp>
      <p:sp>
        <p:nvSpPr>
          <p:cNvPr id="48" name="Text 38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51560" cy="292608"/>
          </a:xfrm>
          <a:prstGeom prst="rect">
            <a:avLst/>
          </a:prstGeom>
          <a:solidFill>
            <a:srgbClr val="DEE7F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mensal — meio-dia, primeiro dia útil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hora de subir um nível e olhar o conjunto, não só o dia-a-dia.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21280" cy="123444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01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1280" y="180136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2057400"/>
            <a:ext cx="198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financeira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237744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Reconciliar repasses do ML com vendas. Bater extrato MP. Identificar e contestar cobranças indevidas.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61360" y="1691640"/>
            <a:ext cx="2621280" cy="123444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61360" y="1691640"/>
            <a:ext cx="73152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3489960" y="1801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440" y="180136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89960" y="2057400"/>
            <a:ext cx="198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real por SKU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489960" y="237744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líquido após todas as taxas. Algum SKU &lt; 10%? Pausar ou reajustar.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065520" y="1691640"/>
            <a:ext cx="2621280" cy="123444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65520" y="1691640"/>
            <a:ext cx="73152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7"/>
          <p:cNvSpPr/>
          <p:nvPr/>
        </p:nvSpPr>
        <p:spPr>
          <a:xfrm>
            <a:off x="6294120" y="1801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01368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94120" y="2057400"/>
            <a:ext cx="198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ABC atualizada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294120" y="237744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mix mudou? Promover B → A. Cortar produtos C que dão prejuízo ou consomem tempo.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57200" y="3063240"/>
            <a:ext cx="2621280" cy="123444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7200" y="3063240"/>
            <a:ext cx="73152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2"/>
          <p:cNvSpPr/>
          <p:nvPr/>
        </p:nvSpPr>
        <p:spPr>
          <a:xfrm>
            <a:off x="685800" y="3172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280" y="3172968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" y="3429000"/>
            <a:ext cx="198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dos top 20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85800" y="374904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atualizado? Ficha técnica completa? Fotos com qualidade boa?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3261360" y="3063240"/>
            <a:ext cx="2621280" cy="123444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261360" y="3063240"/>
            <a:ext cx="73152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27"/>
          <p:cNvSpPr/>
          <p:nvPr/>
        </p:nvSpPr>
        <p:spPr>
          <a:xfrm>
            <a:off x="3489960" y="3172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5440" y="3172968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489960" y="3429000"/>
            <a:ext cx="198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tendências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3489960" y="374904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Palavra-chave nova em alta na sua categoria? Produto novo do concorrente bombando?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6065520" y="3063240"/>
            <a:ext cx="2621280" cy="123444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065520" y="3063240"/>
            <a:ext cx="73152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2"/>
          <p:cNvSpPr/>
          <p:nvPr/>
        </p:nvSpPr>
        <p:spPr>
          <a:xfrm>
            <a:off x="6294120" y="3172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172968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294120" y="3429000"/>
            <a:ext cx="198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do mês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6294120" y="374904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comercial relevante? Lançamento de SKU novo? Campanha de Ads especial?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solidFill>
            <a:srgbClr val="DEE7FB"/>
          </a:solidFill>
          <a:ln/>
        </p:spPr>
      </p:sp>
      <p:sp>
        <p:nvSpPr>
          <p:cNvPr id="44" name="Text 36"/>
          <p:cNvSpPr/>
          <p:nvPr/>
        </p:nvSpPr>
        <p:spPr>
          <a:xfrm>
            <a:off x="685800" y="44805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o ritual gerando o relatório de KPIs vs mês anterior — visualizar a evolução é metade do trabalho.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457200" y="49789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sem histórico viram opinião. Mantenha a planilha mês a mês.</a:t>
            </a:r>
            <a:endParaRPr lang="en-US" sz="850" dirty="0"/>
          </a:p>
        </p:txBody>
      </p:sp>
      <p:sp>
        <p:nvSpPr>
          <p:cNvPr id="46" name="Text 38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805940" cy="292608"/>
          </a:xfrm>
          <a:prstGeom prst="rect">
            <a:avLst/>
          </a:prstGeom>
          <a:solidFill>
            <a:srgbClr val="EDE3F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805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ANTECIPAÇÃO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comercial brasileiro — preparação 60 dias antes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se prepara em outubro vende em novembro. Quem se prepara em novembro vende menos.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649224" cy="1463040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2084" y="2286000"/>
            <a:ext cx="219456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377440"/>
            <a:ext cx="55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às aulas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43000" y="1783080"/>
            <a:ext cx="649224" cy="1463040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920240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57884" y="2286000"/>
            <a:ext cx="219456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377440"/>
            <a:ext cx="55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Carnaval · 02/02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1783080"/>
            <a:ext cx="649224" cy="1463040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920240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43684" y="2286000"/>
            <a:ext cx="219456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1874520" y="2377440"/>
            <a:ext cx="55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do Consum.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14600" y="1783080"/>
            <a:ext cx="649224" cy="1463040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920240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29484" y="2286000"/>
            <a:ext cx="219456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2377440"/>
            <a:ext cx="55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Páscoa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1783080"/>
            <a:ext cx="649224" cy="1463040"/>
          </a:xfrm>
          <a:prstGeom prst="rect">
            <a:avLst/>
          </a:prstGeom>
          <a:solidFill>
            <a:srgbClr val="7C3AED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920240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15284" y="2286000"/>
            <a:ext cx="219456" cy="2743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2377440"/>
            <a:ext cx="55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das Mães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86200" y="1783080"/>
            <a:ext cx="649224" cy="1463040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1920240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01084" y="2286000"/>
            <a:ext cx="219456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0" y="2377440"/>
            <a:ext cx="55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Namorados · Junina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1783080"/>
            <a:ext cx="649224" cy="1463040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1920240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86884" y="2286000"/>
            <a:ext cx="219456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2377440"/>
            <a:ext cx="55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Saldões inverno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57800" y="1783080"/>
            <a:ext cx="649224" cy="1463040"/>
          </a:xfrm>
          <a:prstGeom prst="rect">
            <a:avLst/>
          </a:prstGeom>
          <a:solidFill>
            <a:srgbClr val="7C3AED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1920240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72684" y="2286000"/>
            <a:ext cx="219456" cy="2743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0" y="2377440"/>
            <a:ext cx="55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dos Pais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0" y="1783080"/>
            <a:ext cx="649224" cy="1463040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1920240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58484" y="2286000"/>
            <a:ext cx="219456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2" name="Text 40"/>
          <p:cNvSpPr/>
          <p:nvPr/>
        </p:nvSpPr>
        <p:spPr>
          <a:xfrm>
            <a:off x="5989320" y="2377440"/>
            <a:ext cx="55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Esquenta verão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29400" y="1783080"/>
            <a:ext cx="649224" cy="1463040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1920240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44284" y="2286000"/>
            <a:ext cx="219456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2377440"/>
            <a:ext cx="55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· 10/10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15200" y="1783080"/>
            <a:ext cx="649224" cy="1463040"/>
          </a:xfrm>
          <a:prstGeom prst="rect">
            <a:avLst/>
          </a:prstGeom>
          <a:solidFill>
            <a:srgbClr val="DC2626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0" y="1920240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530084" y="2286000"/>
            <a:ext cx="219456" cy="2743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50" name="Text 48"/>
          <p:cNvSpPr/>
          <p:nvPr/>
        </p:nvSpPr>
        <p:spPr>
          <a:xfrm>
            <a:off x="7360920" y="2377440"/>
            <a:ext cx="55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001000" y="1783080"/>
            <a:ext cx="649224" cy="1463040"/>
          </a:xfrm>
          <a:prstGeom prst="rect">
            <a:avLst/>
          </a:prstGeom>
          <a:solidFill>
            <a:srgbClr val="F7F8FB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01000" y="1920240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215884" y="2286000"/>
            <a:ext cx="219456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4" name="Text 52"/>
          <p:cNvSpPr/>
          <p:nvPr/>
        </p:nvSpPr>
        <p:spPr>
          <a:xfrm>
            <a:off x="8046720" y="2377440"/>
            <a:ext cx="55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 · 12/12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EDE3FD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" y="3566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PREPARAÇÃO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85800" y="3886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dias antes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85800" y="4133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SKUs · Garantir estoque · Renovar fotos/títulos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337560" y="3886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dias antes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337560" y="4133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campanhas subsidiadas · Aumentar Ads · Testar oferta relâmpago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989320" y="3886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dias antes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989320" y="4133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descontos finais · Reforçar atendimento e expedição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é brutal — concorrência explode, Ads ficam caros. Não compita só por preço, tenha diferencial.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120140" cy="292608"/>
          </a:xfrm>
          <a:prstGeom prst="rect">
            <a:avLst/>
          </a:prstGeom>
          <a:solidFill>
            <a:srgbClr val="EDE3F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120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contínua de Mercado Ads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não é "configurar e esquecer" — é alavanca que precisa de calibração semanal.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de ACOS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eficiente — best-seller consolidado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Manter. Considerar escalar lance.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— equilíbrio crescimento × lucro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Otimizar palavras-chave do título.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B3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Aceitável SE produto novo OU margem &gt; 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Avaliar margem real. Pausar se margem fina.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— geralmente prejuízo direto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Pausar campanha. Otimizar anúncio antes.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EDE3FD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4160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 máximo viável = margem líquida do produto. </a:t>
            </a:r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margem é 25%, ACOS de 25% é break-even — o lucro real fica em 0.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 varia por categoria e período. Compare contra a margem real do SKU, não contra benchmarks genéricos.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4688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erros que destroem crescimento lucrativo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Errar todos é raro. Errar 3 ou 4 é comum — e suficiente pra travar a operação.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6479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7373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Depender exclusivamente de Ads (sem SEO orgânico forte)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9164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76479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7373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concorrência por meses — descobrir tarde demais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8600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35915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331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Pular auditoria mensal de margem por achar que "está tudo bem"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28600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4828032" y="235915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03520" y="2331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cliente a esperar desconto (promoção sempre ligada)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8036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295351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cortar SKUs C que dão prejuízo por apego ou hábito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88036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88036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295351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0352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 SKU count sem aumentar tempo de operação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47472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" y="354787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97280" y="3520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correlacionar Ads com promoções (perder sinergia)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47472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47472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354787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03520" y="3520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que Ads resgata anúncio ruim (resgata, mas mais caro)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06908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06908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" y="414223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97280" y="4114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reservar capital pra Black Friday ou data forte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406908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406908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4828032" y="414223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303520" y="4114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100% em ferramenta sem cruzar com painel oficial do ML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erro tem antídoto nas seções anteriores. Se reconheceu 3+ na sua operação, esta apresentação foi feita pra você.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206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FECHAR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seller que cresce com lucro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três coisas: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09728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377440"/>
            <a:ext cx="2621280" cy="2103120"/>
          </a:xfrm>
          <a:prstGeom prst="rect">
            <a:avLst/>
          </a:prstGeom>
          <a:solidFill>
            <a:srgbClr val="151A47"/>
          </a:solidFill>
          <a:ln w="6350">
            <a:solidFill>
              <a:srgbClr val="2D3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2080" y="2651760"/>
            <a:ext cx="731520" cy="731520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952" y="2770632"/>
            <a:ext cx="493776" cy="493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47472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584960" y="3886200"/>
            <a:ext cx="365760" cy="2743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9776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Cadências fixas (diária, semanal, mensal, trimestral). Sem ritual, oscila.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61360" y="2377440"/>
            <a:ext cx="2621280" cy="2103120"/>
          </a:xfrm>
          <a:prstGeom prst="rect">
            <a:avLst/>
          </a:prstGeom>
          <a:solidFill>
            <a:srgbClr val="151A47"/>
          </a:solidFill>
          <a:ln w="6350">
            <a:solidFill>
              <a:srgbClr val="2D3D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06240" y="2651760"/>
            <a:ext cx="731520" cy="731520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2770632"/>
            <a:ext cx="493776" cy="4937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44240" y="347472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4389120" y="3886200"/>
            <a:ext cx="365760" cy="2743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8" name="Text 14"/>
          <p:cNvSpPr/>
          <p:nvPr/>
        </p:nvSpPr>
        <p:spPr>
          <a:xfrm>
            <a:off x="3444240" y="39776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real, ACOS, conversão, score, ranking. Decisão sem dado é palpite.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65520" y="2377440"/>
            <a:ext cx="2621280" cy="2103120"/>
          </a:xfrm>
          <a:prstGeom prst="rect">
            <a:avLst/>
          </a:prstGeom>
          <a:solidFill>
            <a:srgbClr val="151A47"/>
          </a:solidFill>
          <a:ln w="6350">
            <a:solidFill>
              <a:srgbClr val="2D3D8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10400" y="2651760"/>
            <a:ext cx="731520" cy="731520"/>
          </a:xfrm>
          <a:prstGeom prst="ellipse">
            <a:avLst/>
          </a:prstGeom>
          <a:solidFill>
            <a:srgbClr val="FFE60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272" y="2770632"/>
            <a:ext cx="493776" cy="4937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48400" y="347472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7193280" y="3886200"/>
            <a:ext cx="365760" cy="2743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4" name="Text 19"/>
          <p:cNvSpPr/>
          <p:nvPr/>
        </p:nvSpPr>
        <p:spPr>
          <a:xfrm>
            <a:off x="6248400" y="397764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Cumprir o ritual mesmo quando o resultado já tá bom. Especialmente nesse momento.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 é coincidência. Resultado é processo.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Mentoria Mercado Livre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Rotina de Crescimento com Lucratividade — Pós 90 dias no ML</dc:title>
  <dc:subject>PptxGenJS Presentation</dc:subject>
  <dc:creator>Super Seller ML</dc:creator>
  <cp:lastModifiedBy>Super Seller ML</cp:lastModifiedBy>
  <cp:revision>1</cp:revision>
  <dcterms:created xsi:type="dcterms:W3CDTF">2026-05-03T18:00:10Z</dcterms:created>
  <dcterms:modified xsi:type="dcterms:W3CDTF">2026-05-03T18:00:10Z</dcterms:modified>
</cp:coreProperties>
</file>