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42332"/>
            <a:ext cx="2926080" cy="20116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206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SUPER SELLER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90 dias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Mercado Livre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ao </a:t>
            </a:r>
            <a:pPr indent="0" marL="0">
              <a:buNone/>
            </a:pPr>
            <a:r>
              <a:rPr lang="en-US" sz="1800" b="1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caminho prático até a elegibilidade no</a:t>
            </a:r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Mercado Envios Full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91440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86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realista, sem promessas vazias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margem real e rotina diária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no lucro líquido, não no faturamento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46405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de vendedores | Brasil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FULL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Full não é luxo — é alavanca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coisas que mudam quando você entra no Mercado Envios Full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93976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visibilidade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22585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Full ranqueiam acima dos não-Full no algoritmo. Selo Full gera confiança.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17720" y="169164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169164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Shape 11"/>
          <p:cNvSpPr/>
          <p:nvPr/>
        </p:nvSpPr>
        <p:spPr>
          <a:xfrm>
            <a:off x="4873752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209397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8928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1–2 dias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577840" y="22585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estoca, embala e envia. Comprador recebe rápido — conversão dispara.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324612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324612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6"/>
          <p:cNvSpPr/>
          <p:nvPr/>
        </p:nvSpPr>
        <p:spPr>
          <a:xfrm>
            <a:off x="713232" y="35204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48456"/>
            <a:ext cx="338328" cy="33832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447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não te punem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417320" y="38130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passa a ser responsabilidade do ML, não sua. Reputação fica mais estável.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617720" y="324612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617720" y="3246120"/>
            <a:ext cx="73152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1"/>
          <p:cNvSpPr/>
          <p:nvPr/>
        </p:nvSpPr>
        <p:spPr>
          <a:xfrm>
            <a:off x="4873752" y="35204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648456"/>
            <a:ext cx="338328" cy="33832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77840" y="3447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de frete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5577840" y="38130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40% mensal sobre frete grátis pra MercadoLíder com ≥ 50% das vendas no Full.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valores e benefícios atuais no Seller Center — ML reajusta tarifas e regras periodicamente.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DO DIA 90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Pré-requisitos pra entrar no Full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precisa estar pronto até o fim do trimestre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383280" cy="3017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 do trimestre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Elegível ao Full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48640" cy="36576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1089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CNPJ + verde + NF-e + IE, não tem Full. É linha de chegada.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728216"/>
            <a:ext cx="384048" cy="384048"/>
          </a:xfrm>
          <a:prstGeom prst="ellipse">
            <a:avLst/>
          </a:prstGeom>
          <a:solidFill>
            <a:srgbClr val="FFF8B8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819656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17720" y="169164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ativo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617720" y="193852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no mínimo. CPF não destrava Full.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0" y="2295144"/>
            <a:ext cx="384048" cy="384048"/>
          </a:xfrm>
          <a:prstGeom prst="ellipse">
            <a:avLst/>
          </a:prstGeom>
          <a:solidFill>
            <a:srgbClr val="FFF8B8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38658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7720" y="22585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NF-e funcionando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617720" y="25054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automática configurada e testada.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114800" y="2862072"/>
            <a:ext cx="384048" cy="384048"/>
          </a:xfrm>
          <a:prstGeom prst="ellipse">
            <a:avLst/>
          </a:prstGeom>
          <a:solidFill>
            <a:srgbClr val="FFF8B8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953512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17720" y="2825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verde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4617720" y="307238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 — não verde de ontem que cai amanhã.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114800" y="3429000"/>
            <a:ext cx="384048" cy="384048"/>
          </a:xfrm>
          <a:prstGeom prst="ellipse">
            <a:avLst/>
          </a:prstGeom>
          <a:solidFill>
            <a:srgbClr val="FFF8B8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20440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17720" y="33924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Estadual / isenção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617720" y="36393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Declarada conforme regime tributário.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114800" y="3995928"/>
            <a:ext cx="384048" cy="384048"/>
          </a:xfrm>
          <a:prstGeom prst="ellipse">
            <a:avLst/>
          </a:prstGeom>
          <a:solidFill>
            <a:srgbClr val="FFF8B8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087368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617720" y="39593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atendida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617720" y="42062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SP, RJ, MG, PR, SC, RS, BA — onde ML coleta.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podem variar por categoria/região — sempre confirme no Seller Center antes de planejar a remessa.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90 DIAS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fases, um destino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 → Otimização → Escala. Sem pular etapa.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965960"/>
            <a:ext cx="7132320" cy="36576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819656"/>
            <a:ext cx="365760" cy="365760"/>
          </a:xfrm>
          <a:prstGeom prst="ellipse">
            <a:avLst/>
          </a:prstGeom>
          <a:solidFill>
            <a:srgbClr val="2C7A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" y="2286000"/>
            <a:ext cx="2606040" cy="2468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" y="2286000"/>
            <a:ext cx="2606040" cy="9144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" y="2560320"/>
            <a:ext cx="640080" cy="640080"/>
          </a:xfrm>
          <a:prstGeom prst="ellipse">
            <a:avLst/>
          </a:prstGeom>
          <a:solidFill>
            <a:srgbClr val="E3F1E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69748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8590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48590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5438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1–30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4380" y="3657600"/>
            <a:ext cx="457200" cy="27432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17" name="Text 14"/>
          <p:cNvSpPr/>
          <p:nvPr/>
        </p:nvSpPr>
        <p:spPr>
          <a:xfrm>
            <a:off x="754380" y="37490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54380" y="3977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vendas, reputação ativada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389120" y="1819656"/>
            <a:ext cx="365760" cy="36576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268980" y="2286000"/>
            <a:ext cx="2606040" cy="2468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68980" y="2286000"/>
            <a:ext cx="26060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Shape 20"/>
          <p:cNvSpPr/>
          <p:nvPr/>
        </p:nvSpPr>
        <p:spPr>
          <a:xfrm>
            <a:off x="3543300" y="2560320"/>
            <a:ext cx="640080" cy="640080"/>
          </a:xfrm>
          <a:prstGeom prst="ellipse">
            <a:avLst/>
          </a:prstGeom>
          <a:solidFill>
            <a:srgbClr val="FDF1D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269748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27482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27482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354330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31–60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543300" y="3657600"/>
            <a:ext cx="4572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5"/>
          <p:cNvSpPr/>
          <p:nvPr/>
        </p:nvSpPr>
        <p:spPr>
          <a:xfrm>
            <a:off x="3543300" y="37490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3543300" y="3977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estável, margem auditada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178040" y="1819656"/>
            <a:ext cx="365760" cy="36576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178040" y="1819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057900" y="2286000"/>
            <a:ext cx="2606040" cy="246888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057900" y="228600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Shape 31"/>
          <p:cNvSpPr/>
          <p:nvPr/>
        </p:nvSpPr>
        <p:spPr>
          <a:xfrm>
            <a:off x="6332220" y="2560320"/>
            <a:ext cx="640080" cy="6400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269748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63740" y="256032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7063740" y="27889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2000" dirty="0"/>
          </a:p>
        </p:txBody>
      </p:sp>
      <p:sp>
        <p:nvSpPr>
          <p:cNvPr id="39" name="Text 34"/>
          <p:cNvSpPr/>
          <p:nvPr/>
        </p:nvSpPr>
        <p:spPr>
          <a:xfrm>
            <a:off x="6332220" y="3337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61–90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6332220" y="3657600"/>
            <a:ext cx="4572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6"/>
          <p:cNvSpPr/>
          <p:nvPr/>
        </p:nvSpPr>
        <p:spPr>
          <a:xfrm>
            <a:off x="6332220" y="37490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50" dirty="0"/>
          </a:p>
        </p:txBody>
      </p:sp>
      <p:sp>
        <p:nvSpPr>
          <p:cNvPr id="42" name="Text 37"/>
          <p:cNvSpPr/>
          <p:nvPr/>
        </p:nvSpPr>
        <p:spPr>
          <a:xfrm>
            <a:off x="6332220" y="3977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ativos, Full em avaliação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referência. Cada categoria tem ritmo próprio — ajuste com seu contexto e dados do painel.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17320" cy="292608"/>
          </a:xfrm>
          <a:prstGeom prst="rect">
            <a:avLst/>
          </a:prstGeom>
          <a:solidFill>
            <a:srgbClr val="E3F1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 · DIAS 1–30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Fundação: ativar a conta, ativar a reputação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não é faturar. É chegar nas 10 vendas limpas pra destravar a cor verde.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2C7A5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8562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6916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CNPJ (MEI no mínimo)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97280" y="198424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minutos no Portal do Empreendedor. Sem CNPJ, sem Full lá no fim.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2C7A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9631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23317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conta com capricho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097280" y="262432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Foto, nome de loja, endereço de expedição, dados fiscais, Mercado Pago.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2C7A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13639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297180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5–10 SKUs simples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097280" y="326440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Leves, fáceis de embalar, ticket abaixo de R$ 100. Foco em girar.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2C7A5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77647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36118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Programa Decola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1097280" y="390448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de visibilidade nas primeiras semanas em troca de atendimento impecável.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4297680"/>
            <a:ext cx="457200" cy="457200"/>
          </a:xfrm>
          <a:prstGeom prst="ellipse">
            <a:avLst/>
          </a:prstGeom>
          <a:solidFill>
            <a:srgbClr val="2C7A5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416552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97280" y="42519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clara: 10 vendas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1097280" y="4544568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só ativa após a 10ª venda concluída — antes disso, conta cinza.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Decola e algumas regras variam por categoria — confirme elegibilidade no Seller Center.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C7A5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691640" cy="292608"/>
          </a:xfrm>
          <a:prstGeom prst="rect">
            <a:avLst/>
          </a:prstGeom>
          <a:solidFill>
            <a:srgbClr val="E3F1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 · KPIs + ALERTAS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nova é frágil — uma falha pesa muito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C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do mês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1965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cancelamentos pelo vendedor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0370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2167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atrasos de despacho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8775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25511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Despachar no mesmo dia (ou no seguinte)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7180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1520" y="2935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respondidas em &lt; 2h (horário comercial)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35584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520" y="3319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Embalagem firme — zero avaria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39896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31520" y="3703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vendas concluídas no mês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5212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Armadilhas que matam conta nova</a:t>
            </a:r>
            <a:endParaRPr lang="en-US" sz="14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1819656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504688" y="1783080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primeira venda por falta de estoque</a:t>
            </a:r>
            <a:endParaRPr lang="en-US" sz="1150" dirty="0"/>
          </a:p>
        </p:txBody>
      </p:sp>
      <p:sp>
        <p:nvSpPr>
          <p:cNvPr id="22" name="Text 13"/>
          <p:cNvSpPr/>
          <p:nvPr/>
        </p:nvSpPr>
        <p:spPr>
          <a:xfrm>
            <a:off x="5504688" y="20391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cancelamento em 5 vendas = 20% de taxa. Reputação afunda no início.</a:t>
            </a:r>
            <a:endParaRPr lang="en-US" sz="10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532888"/>
            <a:ext cx="201168" cy="20116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504688" y="24963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automática "obrigado pela compra"</a:t>
            </a:r>
            <a:endParaRPr lang="en-US" sz="1150" dirty="0"/>
          </a:p>
        </p:txBody>
      </p:sp>
      <p:sp>
        <p:nvSpPr>
          <p:cNvPr id="25" name="Text 15"/>
          <p:cNvSpPr/>
          <p:nvPr/>
        </p:nvSpPr>
        <p:spPr>
          <a:xfrm>
            <a:off x="5504688" y="275234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é rigoroso com automações na mensageria. Bloqueia ou penaliza.</a:t>
            </a:r>
            <a:endParaRPr lang="en-US" sz="10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246120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504688" y="3209544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com texto/marca d'água/promoção</a:t>
            </a:r>
            <a:endParaRPr lang="en-US" sz="1150" dirty="0"/>
          </a:p>
        </p:txBody>
      </p:sp>
      <p:sp>
        <p:nvSpPr>
          <p:cNvPr id="28" name="Text 17"/>
          <p:cNvSpPr/>
          <p:nvPr/>
        </p:nvSpPr>
        <p:spPr>
          <a:xfrm>
            <a:off x="5504688" y="34655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cai. Algoritmo deixa de mostrar.</a:t>
            </a:r>
            <a:endParaRPr lang="en-US" sz="10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080" y="3959352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504688" y="392277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Ads antes de ficar verde</a:t>
            </a:r>
            <a:endParaRPr lang="en-US" sz="1150" dirty="0"/>
          </a:p>
        </p:txBody>
      </p:sp>
      <p:sp>
        <p:nvSpPr>
          <p:cNvPr id="31" name="Text 19"/>
          <p:cNvSpPr/>
          <p:nvPr/>
        </p:nvSpPr>
        <p:spPr>
          <a:xfrm>
            <a:off x="5504688" y="4178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sai caro com reputação baixa. É jogar dinheiro fora.</a:t>
            </a:r>
            <a:endParaRPr lang="en-US" sz="1000" dirty="0"/>
          </a:p>
        </p:txBody>
      </p:sp>
      <p:sp>
        <p:nvSpPr>
          <p:cNvPr id="32" name="Text 20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 janelas exatas (60 vendas / 365 dias) podem mudar — confira no painel de reputação.</a:t>
            </a:r>
            <a:endParaRPr lang="en-US" sz="850" dirty="0"/>
          </a:p>
        </p:txBody>
      </p:sp>
      <p:sp>
        <p:nvSpPr>
          <p:cNvPr id="33" name="Text 21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1732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 · DIAS 31–60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Otimização: dado, margem real e qualidade do anúncio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de profissionalizar. Sai do achismo, entra na auditoria.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8928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11680" y="18562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margem real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45920" y="2331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primeiros 30 pedidos. Quanto sobrou DE VERDADE depois de comissão, frete subsidiado, custo fixo e impostos?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169164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691640"/>
            <a:ext cx="73152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5074920" y="1856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9280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0" y="185623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profissionais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852160" y="23317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em fundo branco puro, 6–8 ângulos. Sem texto, sem marca d'água. Vídeo onde a categoria suporta.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24612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7"/>
          <p:cNvSpPr/>
          <p:nvPr/>
        </p:nvSpPr>
        <p:spPr>
          <a:xfrm>
            <a:off x="86868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44728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011680" y="3410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100%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64592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real, GTIN, todos os atributos. Campo vazio = você fica fora dos filtros de busca.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46320" y="324612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46320" y="3246120"/>
            <a:ext cx="73152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2"/>
          <p:cNvSpPr/>
          <p:nvPr/>
        </p:nvSpPr>
        <p:spPr>
          <a:xfrm>
            <a:off x="507492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44728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217920" y="34107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80 + curva ABC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85216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SKUs com score alto. Identificar A/B/C — promover B → A, cortar C que dá prejuízo.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Comissões variam por subcategoria e tipo de anúncio — sempre rode a calculadora oficial antes de decisão de preço.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78308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 · MARGEM REAL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sobra REALMENTE numa venda de R$ 110?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Fone bluetooth · Clássico · Eletrônicos · Frete grátis · Reputação verde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47548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R$ 110,00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do produto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R$ 45,00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Embalagem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R$ 2,00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Comissão (Eletrônicos Clássico ~13%)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R$ 14,30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Frete grátis (subsídio 50% — verde)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R$ 15,00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Imposto saída (Simples ~6%)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R$ 6,60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Ads (10%)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R$ 11,00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 devolução (2%)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 R$ 2,20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Lucro líquido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691640"/>
            <a:ext cx="320040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0" y="2103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12,6%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5715000" y="2862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Apertada. Aceitável só se for produto de aprendizado — não pra escalar.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3383280"/>
            <a:ext cx="320040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3493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 pra ganhar margem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69280" y="3794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preço para R$ 119 (Premium destrava parcelamento)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fornecedor melhor — cortar R$ 5 do custo já dobra a margem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Pausar Ads enquanto a venda orgânica banca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Comissões e custos variam por subcategoria e mudaram em 2026 — confirme valores no painel "Meus custos".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280160" cy="292608"/>
          </a:xfrm>
          <a:prstGeom prst="rect">
            <a:avLst/>
          </a:prstGeom>
          <a:solidFill>
            <a:srgbClr val="FDF1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 · KPIs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acompanhar nos dias 31–60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80060" y="1554480"/>
            <a:ext cx="260604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" y="1554480"/>
            <a:ext cx="26060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" y="19659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6294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54480" y="3337560"/>
            <a:ext cx="4572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verde sustentada — sem oscilar pra amarelo de uma semana pra outra.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8980" y="1554480"/>
            <a:ext cx="260604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8980" y="1554480"/>
            <a:ext cx="26060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19659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345186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3337560"/>
            <a:ext cx="4572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3497580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anúncios convertendo acima de 3% nas visitas — sinal de anúncio bom.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7900" y="1554480"/>
            <a:ext cx="260604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7900" y="1554480"/>
            <a:ext cx="2606040" cy="91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240780" y="19659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24078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0" y="3337560"/>
            <a:ext cx="4572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286500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ruptura de estoque nos best-sellers. Cancelamento por falta = veneno.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destes três falha, NÃO entre no mês 3 acelerando — estabilize antes.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 percentuais de reputação podem ser revisados pelo ML — confira o painel oficial.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417320" cy="292608"/>
          </a:xfrm>
          <a:prstGeom prst="rect">
            <a:avLst/>
          </a:prstGeom>
          <a:solidFill>
            <a:srgbClr val="DEE7F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 · DIAS 61–90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Escala: ligar Ads, abrir promoções, avaliar Full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a base bancou — dá pra acelerar com segurança.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1945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Primeiros Mercado Ads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R$ 30/dia em Product Ads, modo Personalizado, foco nos top 3 SKUs. Estratégia Rentabilidade.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169164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46320" y="1691640"/>
            <a:ext cx="73152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2"/>
          <p:cNvSpPr/>
          <p:nvPr/>
        </p:nvSpPr>
        <p:spPr>
          <a:xfrm>
            <a:off x="5120640" y="2057400"/>
            <a:ext cx="640080" cy="6400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21945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978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Full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89788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SKUs campeões, estoque conservador (30 dias), monitorar giro semanalmente.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24612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3246120"/>
            <a:ext cx="73152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7"/>
          <p:cNvSpPr/>
          <p:nvPr/>
        </p:nvSpPr>
        <p:spPr>
          <a:xfrm>
            <a:off x="914400" y="3611880"/>
            <a:ext cx="640080" cy="6400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74904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69164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Promoções subsidiadas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1691640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convites em datas comerciais — ML banca parte do desconto, ganho de margem.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846320" y="3246120"/>
            <a:ext cx="4069080" cy="141732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846320" y="3246120"/>
            <a:ext cx="73152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Shape 22"/>
          <p:cNvSpPr/>
          <p:nvPr/>
        </p:nvSpPr>
        <p:spPr>
          <a:xfrm>
            <a:off x="5120640" y="3611880"/>
            <a:ext cx="640080" cy="640080"/>
          </a:xfrm>
          <a:prstGeom prst="ellipse">
            <a:avLst/>
          </a:prstGeom>
          <a:solidFill>
            <a:srgbClr val="DEE7F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74904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897880" y="3474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 estabelecida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897880" y="3840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Manhã/tarde/fim de tarde com horários fixos. Operação previsível, nada de heroísmo.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e custos de Ads variam por categoria. Sempre reserve 10–15% do preço pra mídia antes de ativar campanhas.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280160" cy="292608"/>
          </a:xfrm>
          <a:prstGeom prst="rect">
            <a:avLst/>
          </a:prstGeom>
          <a:solidFill>
            <a:srgbClr val="DEE7F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 · KPIs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que precisam bater no dia 90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80060" y="1554480"/>
            <a:ext cx="260604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" y="155448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" y="19659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6294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médio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54480" y="3337560"/>
            <a:ext cx="4572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Ads sobre vendas atribuídas. Indica que as campanhas estão pagando o investimento.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8980" y="1554480"/>
            <a:ext cx="260604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8980" y="155448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19659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45186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com Score &gt; 80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43400" y="3337560"/>
            <a:ext cx="4572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497580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Anúncios premium com ficha técnica completa, fotos profissionais, alta conversão.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57900" y="1554480"/>
            <a:ext cx="2606040" cy="274320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7900" y="1554480"/>
            <a:ext cx="260604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240780" y="196596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6240780" y="29718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em verde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32320" y="3337560"/>
            <a:ext cx="4572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286500" y="34290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verde sustentada por mais de 60 vendas — janela completa do termômetro.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três indicadores juntos dizem se você está pronto pra mandar estoque pro CD.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ACOS aceitável depende da margem do produto — meça sempre contra a margem líquida real do SKU.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indicadores que decidem o Full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das últimas 60 vendas (ou 365 dias se &lt; 60). Atualiza diariamente.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" y="169164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0060" y="1691640"/>
            <a:ext cx="2606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RECLAMAÇÕES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331720"/>
            <a:ext cx="731520" cy="731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2940" y="31546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PRO VERDE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6294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866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abre reclamação no ML. Causa nº 1 é descrição que não bate com produto recebido.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68980" y="169164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68980" y="1691640"/>
            <a:ext cx="2606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345186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04622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ENVIOS ATRASADOS</a:t>
            </a:r>
            <a:endParaRPr lang="en-US" sz="11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331720"/>
            <a:ext cx="731520" cy="7315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51860" y="31546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PRO VERDE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5186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349758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entre data prometida e data real de entrega. Conta atraso da transportadora também.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57900" y="1691640"/>
            <a:ext cx="26060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057900" y="1691640"/>
            <a:ext cx="26060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0"/>
          <p:cNvSpPr/>
          <p:nvPr/>
        </p:nvSpPr>
        <p:spPr>
          <a:xfrm>
            <a:off x="624078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83514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CANCELAMENTOS PELO VENDEDOR</a:t>
            </a:r>
            <a:endParaRPr lang="en-US" sz="11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331720"/>
            <a:ext cx="731520" cy="7315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40780" y="31546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PRO VERDE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240780" y="33832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1,5%</a:t>
            </a:r>
            <a:endParaRPr lang="en-US" sz="3200" dirty="0"/>
          </a:p>
        </p:txBody>
      </p:sp>
      <p:sp>
        <p:nvSpPr>
          <p:cNvPr id="29" name="Text 24"/>
          <p:cNvSpPr/>
          <p:nvPr/>
        </p:nvSpPr>
        <p:spPr>
          <a:xfrm>
            <a:off x="6286500" y="3886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MercadoLíder cai pra ≤ 0,5%. Causa nº 1: estoque desatualizado vendendo o que não tem.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Percentuais são referências práticas — ML calibra os limites dinamicamente. Confira o painel de reputação.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DIÁRIA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rotina mínima que separa amador de profissional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2–4 horas/dia para 50–200 pedidos. Sem mistério.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1188" y="1691640"/>
            <a:ext cx="269748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1188" y="1691640"/>
            <a:ext cx="2697480" cy="777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185623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8428" y="1801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MANHÃ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38428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min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pedidos da noite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etiquetas, separar embalagem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perguntas em &lt; 2h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indicadores de reputação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ruptura de estoque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23260" y="1691640"/>
            <a:ext cx="269748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23260" y="1691640"/>
            <a:ext cx="2697480" cy="777240"/>
          </a:xfrm>
          <a:prstGeom prst="rect">
            <a:avLst/>
          </a:prstGeom>
          <a:solidFill>
            <a:srgbClr val="2C7A5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85623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00500" y="1801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0005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1–2h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451860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Expedir pedidos no mesmo dia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status (envio postado)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problemas escalados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mensagens novas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mediações em curso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5332" y="1691640"/>
            <a:ext cx="2697480" cy="28346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5332" y="1691640"/>
            <a:ext cx="2697480" cy="77724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85623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62572" y="18013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DE TARDE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862572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13932" y="2606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vendas do dia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ranking dos top 5 SKUs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ACOS e gasto de Ads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insights do dia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pedidos do dia seguinte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200 pedidos/dia: hora de pensar em equipe, ERP e automação básica.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ARMADILHAS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erros que matam conta nova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errar — basta evitar.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6479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primeira venda por falta de estoque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176479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737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 no despacho na primeira semana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8600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35915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automática "obrigado pela compra"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28600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235915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0352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copiado do concorrente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8036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295351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com marca d'água ou texto promocional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288036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88036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95351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conta nova pra "recomeçar" (banimento certo)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354787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97280" y="3520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sem nota fiscal configurada (CNPJ)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347472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47472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354787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5204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Promessas no anúncio que não dá pra cumprir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406908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06908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" y="414223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97280" y="4114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em Ads antes da reputação verde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663440" y="4069080"/>
            <a:ext cx="4023360" cy="502920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4069080"/>
            <a:ext cx="64008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4828032" y="4142232"/>
            <a:ext cx="4114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03520" y="41148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50 SKUs no primeiro mês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da experiência prática — todos os 10 são casos reais comuns. Cada um já derrubou conta nova com volume promissor.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90 · DECISÃO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entrar no Full agora?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cada item. Se sobrar dúvida em 1, espera mais 30 dias.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6479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709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ativo + IE/isenção declarada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12080" y="1709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 formal. Sem isso, nem começa.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2219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1671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verde por 60+ vendas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212080" y="2167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Sustentada — não verde de ontem que já coçava amarelo.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606040"/>
            <a:ext cx="8229600" cy="384048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7919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0120" y="2624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NF-e emitindo automaticamente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212080" y="2624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Testada em pelo menos 20 pedidos sem rejeição.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13639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0815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SKUs com giro alto e previsível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212080" y="30815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 várias unidades por dia, sem sazonalidade dura.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3520440"/>
            <a:ext cx="8229600" cy="384048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93592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0120" y="35387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comporta as taxas do Full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5212080" y="3538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Recalculou incluindo armazenagem? Ainda sobra ≥ 15%?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solidFill>
            <a:srgbClr val="F7F8FB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0507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60120" y="3995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giro para estoque parado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212080" y="3995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 antecipados sem comprometer fluxo.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Elegibilidade técnica é condição necessária, não suficiente. Margem do Full muda conta — sempre simule.</a:t>
            </a:r>
            <a:endParaRPr lang="en-US" sz="850" dirty="0"/>
          </a:p>
        </p:txBody>
      </p:sp>
      <p:sp>
        <p:nvSpPr>
          <p:cNvPr id="31" name="Text 23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NO FULL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entrar sem queimar capital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mal calibrado vira armazém pago. Comece pequeno.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" y="1783080"/>
            <a:ext cx="2011680" cy="23774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1783080"/>
            <a:ext cx="2011680" cy="731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1965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1124712" y="2926080"/>
            <a:ext cx="365760" cy="36576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SKUs campeões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já consolidados, leves, padronizados, com GTIN.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78024" y="1783080"/>
            <a:ext cx="2011680" cy="23774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78024" y="1783080"/>
            <a:ext cx="2011680" cy="731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4" name="Text 12"/>
          <p:cNvSpPr/>
          <p:nvPr/>
        </p:nvSpPr>
        <p:spPr>
          <a:xfrm>
            <a:off x="2478024" y="1965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3300984" y="2926080"/>
            <a:ext cx="365760" cy="36576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6" name="Text 14"/>
          <p:cNvSpPr/>
          <p:nvPr/>
        </p:nvSpPr>
        <p:spPr>
          <a:xfrm>
            <a:off x="2615184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pra 30 dias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15184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Conservador. Não 90, não 60. Trinta. Reposição se vender.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54296" y="1783080"/>
            <a:ext cx="2011680" cy="23774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4296" y="1783080"/>
            <a:ext cx="2011680" cy="731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54296" y="1965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0" dirty="0"/>
          </a:p>
        </p:txBody>
      </p:sp>
      <p:sp>
        <p:nvSpPr>
          <p:cNvPr id="21" name="Shape 19"/>
          <p:cNvSpPr/>
          <p:nvPr/>
        </p:nvSpPr>
        <p:spPr>
          <a:xfrm>
            <a:off x="5477256" y="2926080"/>
            <a:ext cx="365760" cy="36576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giro semanal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91456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Travou? Devolve antes de virar penalidade de armazenagem.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30568" y="1783080"/>
            <a:ext cx="2011680" cy="2377440"/>
          </a:xfrm>
          <a:prstGeom prst="rect">
            <a:avLst/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30568" y="1783080"/>
            <a:ext cx="2011680" cy="7315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1965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27" name="Shape 25"/>
          <p:cNvSpPr/>
          <p:nvPr/>
        </p:nvSpPr>
        <p:spPr>
          <a:xfrm>
            <a:off x="7653528" y="2926080"/>
            <a:ext cx="365760" cy="36576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8" name="Text 26"/>
          <p:cNvSpPr/>
          <p:nvPr/>
        </p:nvSpPr>
        <p:spPr>
          <a:xfrm>
            <a:off x="6967728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ME padrão em paralelo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67728" y="34747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mix completo fora do Full enquanto opera os campeões dentro.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708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SKU sem 30 dias de giro consistente fora do Full não vai milagrosamente girar dentro.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49789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de armazenagem do Full mudam conforme volume e tempo no CD — confira a calculadora oficial.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46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91–180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Full: caminho até MercadoLíder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trimestre tem outra meta. Veja o que muda.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926080" cy="777240"/>
          </a:xfrm>
          <a:prstGeom prst="rect">
            <a:avLst/>
          </a:prstGeom>
          <a:solidFill>
            <a:srgbClr val="2D3D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83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MercadoLíder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2103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sustentado · Volume mínimo · Indicadores de excelência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4023360" cy="77724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88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MercadoLíder Gold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34440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maiores · Indicadores ainda melhores · Histórico consistente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520440"/>
            <a:ext cx="5120640" cy="777240"/>
          </a:xfrm>
          <a:prstGeom prst="rect">
            <a:avLst/>
          </a:prstGeom>
          <a:solidFill>
            <a:srgbClr val="151A4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033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611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MercadoLíder Platinum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234440" y="3931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alto · Reputação impecável · Anos de operação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7132320" y="1691640"/>
            <a:ext cx="1554480" cy="2788920"/>
          </a:xfrm>
          <a:prstGeom prst="rect">
            <a:avLst/>
          </a:prstGeom>
          <a:solidFill>
            <a:srgbClr val="FFF8B8"/>
          </a:solidFill>
          <a:ln/>
        </p:spPr>
      </p:sp>
      <p:sp>
        <p:nvSpPr>
          <p:cNvPr id="19" name="Text 14"/>
          <p:cNvSpPr/>
          <p:nvPr/>
        </p:nvSpPr>
        <p:spPr>
          <a:xfrm>
            <a:off x="7269480" y="1828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269480" y="2057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MercadoLíder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269480" y="2743200"/>
            <a:ext cx="1371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visível no anúncio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grátis subsidiado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até 40% em frete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prioritário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Convites de promoções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Crédito melhor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57200" y="48508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realista até MercadoLíder: 6 a 12 meses de operação consistente em verde. Sem atalho.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046720" y="48508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4206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levar com você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097280" cy="4572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83080"/>
            <a:ext cx="4069080" cy="841248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928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 &gt; faturamento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21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R$ 50 mil de receita com R$ 800 sobrando é negócio quebrado disfarçado.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69080" cy="841248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9280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7784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Reputação é ativo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2221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abre portas — Full, Ads barato, MercadoLíder. Vermelho fecha tudo.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4069080" cy="841248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529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antes de achismo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182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real, ACOS, conversão, Score. Sem planilha, é palpite.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069080" cy="841248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7784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Profissionalize cedo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1821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testa. CNPJ escala. Cada mês adiando é teto baixo se reforçando.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8229600" cy="841248"/>
          </a:xfrm>
          <a:prstGeom prst="rect">
            <a:avLst/>
          </a:prstGeom>
          <a:solidFill>
            <a:srgbClr val="151A47"/>
          </a:solidFill>
          <a:ln w="6350">
            <a:solidFill>
              <a:srgbClr val="2D3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130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371600" y="37947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sobre dificuldades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1422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renda passiva. É operação diária. Quem trata como hobby tem resultado de hobby.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7594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números, boa rotina, boa reputação. O Full vem como consequência.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Mentoria Mercado Livre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Primeiros 90 dias no Mercado Livre — do zero ao Full</dc:title>
  <dc:subject>PptxGenJS Presentation</dc:subject>
  <dc:creator>Super Seller ML</dc:creator>
  <cp:lastModifiedBy>Super Seller ML</cp:lastModifiedBy>
  <cp:revision>1</cp:revision>
  <dcterms:created xsi:type="dcterms:W3CDTF">2026-05-03T16:30:45Z</dcterms:created>
  <dcterms:modified xsi:type="dcterms:W3CDTF">2026-05-03T16:30:45Z</dcterms:modified>
</cp:coreProperties>
</file>